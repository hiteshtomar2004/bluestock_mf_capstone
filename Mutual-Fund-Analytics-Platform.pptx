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rimson Pro SemiBold" panose="020B0604020202020204" charset="0"/>
      <p:regular r:id="rId15"/>
    </p:embeddedFont>
    <p:embeddedFont>
      <p:font typeface="Heebo" pitchFamily="2" charset="-79"/>
      <p:regular r:id="rId16"/>
    </p:embeddedFont>
    <p:embeddedFont>
      <p:font typeface="Heebo Bold" panose="020B0604020202020204" charset="-79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756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Mutual Fund Analytics Platform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872868" y="2187253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End-to-End Data Engineering, Performance Analytics &amp; Business Intelligence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842766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Capstone Project — Presented by Hitesh Tomar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4D18EE-E6C9-1410-2DF3-B62E0850A57C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37890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04C8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&amp; Objectives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25119" y="1304851"/>
            <a:ext cx="2290465" cy="3100760"/>
          </a:xfrm>
          <a:prstGeom prst="roundRect">
            <a:avLst>
              <a:gd name="adj" fmla="val 928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66877" y="1446609"/>
            <a:ext cx="2006947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066877" y="1797472"/>
            <a:ext cx="2006947" cy="2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Mutual fund datasets are distributed across multiple sources and formats.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Investors require both return and risk analysis to make informed decisions.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analysis is time-consuming and lacks interactive visualization.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304851"/>
            <a:ext cx="2290539" cy="3100760"/>
          </a:xfrm>
          <a:prstGeom prst="roundRect">
            <a:avLst>
              <a:gd name="adj" fmla="val 928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99101" y="1446609"/>
            <a:ext cx="2007022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Objectives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499101" y="1797472"/>
            <a:ext cx="2007022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Build an automated ETL pipeline.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 exploratory and performance analytics.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advanced risk analysis.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an interactive Power BI dashboard.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 actionable investment insights.</a:t>
            </a: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35D3C-9EF4-8151-C7F2-9E7DE31D47D9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669"/>
            <a:ext cx="8151763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Overview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38138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Datasets Used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255588"/>
            <a:ext cx="8151763" cy="2725341"/>
          </a:xfrm>
          <a:prstGeom prst="roundRect">
            <a:avLst>
              <a:gd name="adj" fmla="val 69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6119" y="1598042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6119" y="1938114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6119" y="2278187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6119" y="2618259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6119" y="2958331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6119" y="3298403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6119" y="3638476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255588"/>
            <a:ext cx="7891" cy="272534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0881" y="1260351"/>
            <a:ext cx="4071119" cy="337691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087" y="1332533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4318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Dataset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260351"/>
            <a:ext cx="4071119" cy="337691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0588" y="1332533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4318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Purpose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0881" y="1598042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087" y="1672605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Fund Master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1598042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588" y="1672605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Scheme metadata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0881" y="1938114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087" y="2012677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NAV History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938114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0588" y="2012677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Daily NAV records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0881" y="2278187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087" y="2352749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Scheme Performance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278187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0588" y="2352749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Returns &amp; risk metrics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0881" y="2618259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7087" y="2692822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Investor Transactions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2618259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0588" y="2692822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Behavior analysis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0881" y="2958331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7087" y="3032894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Portfolio Holdings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2958331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0588" y="3032894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allocation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0881" y="3298403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7087" y="3372966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3298403"/>
            <a:ext cx="4071119" cy="340072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00588" y="3372966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comparison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0881" y="3638476"/>
            <a:ext cx="4071119" cy="337691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7087" y="3713038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SIP &amp; Industry Data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3638476"/>
            <a:ext cx="4071119" cy="337691"/>
          </a:xfrm>
          <a:prstGeom prst="rect">
            <a:avLst/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00588" y="3713038"/>
            <a:ext cx="42735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Market trends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6119" y="4149551"/>
            <a:ext cx="8151763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496119" y="4554885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• Pandas • NumPy • SQLite • SQL • Power BI • Jupyter Notebook</a:t>
            </a:r>
            <a:endParaRPr lang="en-US" sz="95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1C3ED8-9260-F833-BF0C-6882FE73E697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917" y="1632124"/>
            <a:ext cx="3287167" cy="18791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049759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ETL Pipeline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96119" y="161672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Raw data → Ingestion → Cleaning &amp; Validation → Feature Engineering → SQLite (warehouse) → Analytics → Power BI Dashboard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96119" y="2282949"/>
            <a:ext cx="4722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Tasks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496119" y="2761357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cleaning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Missing value handling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Feature engineering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Database loading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Analytics-ready datasets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044"/>
            <a:ext cx="8223338" cy="200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</a:t>
            </a:r>
            <a:r>
              <a:rPr lang="en-US" sz="200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ploratory Data Analysis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8" y="744662"/>
            <a:ext cx="2932881" cy="16451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-545660" y="2402343"/>
            <a:ext cx="352849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NAV Trend</a:t>
            </a:r>
            <a:endParaRPr lang="en-US" sz="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353" y="805533"/>
            <a:ext cx="2518767" cy="15842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87491" y="2446201"/>
            <a:ext cx="535394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Aum Growth</a:t>
            </a:r>
            <a:endParaRPr lang="en-US" sz="550" dirty="0"/>
          </a:p>
        </p:txBody>
      </p:sp>
      <p:sp>
        <p:nvSpPr>
          <p:cNvPr id="7" name="Text 3"/>
          <p:cNvSpPr/>
          <p:nvPr/>
        </p:nvSpPr>
        <p:spPr>
          <a:xfrm>
            <a:off x="-154726" y="2653847"/>
            <a:ext cx="274662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Allocation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780928"/>
            <a:ext cx="1321370" cy="13034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42878" y="2656069"/>
            <a:ext cx="3089225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SIP Trends</a:t>
            </a:r>
            <a:endParaRPr lang="en-US" sz="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3957" y="2780928"/>
            <a:ext cx="1741733" cy="14928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04396" y="2656069"/>
            <a:ext cx="332013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Monthly Net Inflows</a:t>
            </a:r>
            <a:endParaRPr lang="en-US" sz="5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0091" y="2780928"/>
            <a:ext cx="2475776" cy="150026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794400" y="3713262"/>
            <a:ext cx="332013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14" name="Text 7"/>
          <p:cNvSpPr/>
          <p:nvPr/>
        </p:nvSpPr>
        <p:spPr>
          <a:xfrm>
            <a:off x="496119" y="4080049"/>
            <a:ext cx="8151763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Insights</a:t>
            </a:r>
            <a:endParaRPr lang="en-US" sz="850" dirty="0"/>
          </a:p>
        </p:txBody>
      </p:sp>
      <p:sp>
        <p:nvSpPr>
          <p:cNvPr id="15" name="Text 8"/>
          <p:cNvSpPr/>
          <p:nvPr/>
        </p:nvSpPr>
        <p:spPr>
          <a:xfrm>
            <a:off x="496119" y="4281190"/>
            <a:ext cx="8151763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 AUM increased steadily.</a:t>
            </a:r>
            <a:endParaRPr lang="en-US" sz="550" dirty="0"/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SIP participation showed continuous growth.</a:t>
            </a:r>
            <a:endParaRPr lang="en-US" sz="550" dirty="0"/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Investor participation expanded over time.</a:t>
            </a:r>
            <a:endParaRPr lang="en-US" sz="550" dirty="0"/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Portfolios exhibited diversified sector exposure.</a:t>
            </a:r>
            <a:endParaRPr lang="en-US" sz="5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F20993-EAEA-6E8A-A8D0-FADB2415E9E3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 Analytics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3829" y="731341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Metrics Computed:</a:t>
            </a:r>
            <a:endParaRPr lang="en-US" sz="1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C0F2348-35A6-1536-FB8B-D7BB7F8D9E51}"/>
              </a:ext>
            </a:extLst>
          </p:cNvPr>
          <p:cNvGrpSpPr/>
          <p:nvPr/>
        </p:nvGrpSpPr>
        <p:grpSpPr>
          <a:xfrm>
            <a:off x="496119" y="875295"/>
            <a:ext cx="8151762" cy="580802"/>
            <a:chOff x="496119" y="745034"/>
            <a:chExt cx="8151762" cy="580802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745034"/>
              <a:ext cx="2011338" cy="580802"/>
            </a:xfrm>
            <a:prstGeom prst="rect">
              <a:avLst/>
            </a:prstGeom>
          </p:spPr>
        </p:pic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42877" y="745034"/>
              <a:ext cx="2011412" cy="580802"/>
            </a:xfrm>
            <a:prstGeom prst="rect">
              <a:avLst/>
            </a:prstGeom>
          </p:spPr>
        </p:pic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89711" y="745034"/>
              <a:ext cx="2011338" cy="580802"/>
            </a:xfrm>
            <a:prstGeom prst="rect">
              <a:avLst/>
            </a:prstGeom>
          </p:spPr>
        </p:pic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36469" y="745034"/>
              <a:ext cx="2011412" cy="580802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A440D8B-20F2-95BB-84B8-643B145C9183}"/>
                </a:ext>
              </a:extLst>
            </p:cNvPr>
            <p:cNvGrpSpPr/>
            <p:nvPr/>
          </p:nvGrpSpPr>
          <p:grpSpPr>
            <a:xfrm>
              <a:off x="576486" y="798165"/>
              <a:ext cx="7991029" cy="447303"/>
              <a:chOff x="576486" y="798165"/>
              <a:chExt cx="7991029" cy="447303"/>
            </a:xfrm>
          </p:grpSpPr>
          <p:sp>
            <p:nvSpPr>
              <p:cNvPr id="5" name="Text 2"/>
              <p:cNvSpPr/>
              <p:nvPr/>
            </p:nvSpPr>
            <p:spPr>
              <a:xfrm>
                <a:off x="1459223" y="798165"/>
                <a:ext cx="85055" cy="1062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650" dirty="0">
                    <a:solidFill>
                      <a:srgbClr val="FFFFFF"/>
                    </a:solidFill>
                    <a:latin typeface="Crimson Pro SemiBold" pitchFamily="34" charset="0"/>
                    <a:ea typeface="Crimson Pro SemiBold" pitchFamily="34" charset="-122"/>
                    <a:cs typeface="Crimson Pro SemiBold" pitchFamily="34" charset="-120"/>
                  </a:rPr>
                  <a:t>1</a:t>
                </a:r>
                <a:endParaRPr lang="en-US" sz="650" dirty="0"/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3506056" y="798165"/>
                <a:ext cx="85055" cy="1062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650" dirty="0">
                    <a:solidFill>
                      <a:srgbClr val="FFFFFF"/>
                    </a:solidFill>
                    <a:latin typeface="Crimson Pro SemiBold" pitchFamily="34" charset="0"/>
                    <a:ea typeface="Crimson Pro SemiBold" pitchFamily="34" charset="-122"/>
                    <a:cs typeface="Crimson Pro SemiBold" pitchFamily="34" charset="-120"/>
                  </a:rPr>
                  <a:t>2</a:t>
                </a:r>
                <a:endParaRPr lang="en-US" sz="650" dirty="0"/>
              </a:p>
            </p:txBody>
          </p:sp>
          <p:sp>
            <p:nvSpPr>
              <p:cNvPr id="13" name="Text 8"/>
              <p:cNvSpPr/>
              <p:nvPr/>
            </p:nvSpPr>
            <p:spPr>
              <a:xfrm>
                <a:off x="5552815" y="798165"/>
                <a:ext cx="85055" cy="1062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650" dirty="0">
                    <a:solidFill>
                      <a:srgbClr val="FFFFFF"/>
                    </a:solidFill>
                    <a:latin typeface="Crimson Pro SemiBold" pitchFamily="34" charset="0"/>
                    <a:ea typeface="Crimson Pro SemiBold" pitchFamily="34" charset="-122"/>
                    <a:cs typeface="Crimson Pro SemiBold" pitchFamily="34" charset="-120"/>
                  </a:rPr>
                  <a:t>3</a:t>
                </a:r>
                <a:endParaRPr lang="en-US" sz="650" dirty="0"/>
              </a:p>
            </p:txBody>
          </p:sp>
          <p:sp>
            <p:nvSpPr>
              <p:cNvPr id="17" name="Text 11"/>
              <p:cNvSpPr/>
              <p:nvPr/>
            </p:nvSpPr>
            <p:spPr>
              <a:xfrm>
                <a:off x="7599648" y="798165"/>
                <a:ext cx="85055" cy="1062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650" dirty="0">
                    <a:solidFill>
                      <a:srgbClr val="FFFFFF"/>
                    </a:solidFill>
                    <a:latin typeface="Crimson Pro SemiBold" pitchFamily="34" charset="0"/>
                    <a:ea typeface="Crimson Pro SemiBold" pitchFamily="34" charset="-122"/>
                    <a:cs typeface="Crimson Pro SemiBold" pitchFamily="34" charset="-120"/>
                  </a:rPr>
                  <a:t>4</a:t>
                </a:r>
                <a:endParaRPr lang="en-US" sz="65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660E466-619D-6F99-90EF-9F3713E797E8}"/>
                  </a:ext>
                </a:extLst>
              </p:cNvPr>
              <p:cNvGrpSpPr/>
              <p:nvPr/>
            </p:nvGrpSpPr>
            <p:grpSpPr>
              <a:xfrm>
                <a:off x="576486" y="1028477"/>
                <a:ext cx="7991029" cy="216991"/>
                <a:chOff x="576486" y="1028477"/>
                <a:chExt cx="7991029" cy="216991"/>
              </a:xfrm>
            </p:grpSpPr>
            <p:sp>
              <p:nvSpPr>
                <p:cNvPr id="6" name="Text 3"/>
                <p:cNvSpPr/>
                <p:nvPr/>
              </p:nvSpPr>
              <p:spPr>
                <a:xfrm>
                  <a:off x="576486" y="1028477"/>
                  <a:ext cx="1850603" cy="1107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ct val="104000"/>
                    </a:lnSpc>
                    <a:buNone/>
                  </a:pPr>
                  <a:r>
                    <a:rPr lang="en-US" sz="650" dirty="0">
                      <a:solidFill>
                        <a:srgbClr val="4C4C4D"/>
                      </a:solidFill>
                      <a:latin typeface="Crimson Pro SemiBold" pitchFamily="34" charset="0"/>
                      <a:ea typeface="Crimson Pro SemiBold" pitchFamily="34" charset="-122"/>
                      <a:cs typeface="Crimson Pro SemiBold" pitchFamily="34" charset="-120"/>
                    </a:rPr>
                    <a:t>Return Metrics</a:t>
                  </a:r>
                  <a:endParaRPr lang="en-US" sz="650" dirty="0"/>
                </a:p>
              </p:txBody>
            </p:sp>
            <p:sp>
              <p:nvSpPr>
                <p:cNvPr id="7" name="Text 4"/>
                <p:cNvSpPr/>
                <p:nvPr/>
              </p:nvSpPr>
              <p:spPr>
                <a:xfrm>
                  <a:off x="576486" y="1160413"/>
                  <a:ext cx="1850603" cy="85055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ct val="100000"/>
                    </a:lnSpc>
                    <a:buNone/>
                  </a:pPr>
                  <a:r>
                    <a:rPr lang="en-US" sz="550" dirty="0">
                      <a:solidFill>
                        <a:srgbClr val="4C4C4D"/>
                      </a:solidFill>
                      <a:latin typeface="Heebo" pitchFamily="34" charset="0"/>
                      <a:ea typeface="Heebo" pitchFamily="34" charset="-122"/>
                      <a:cs typeface="Heebo" pitchFamily="34" charset="-120"/>
                    </a:rPr>
                    <a:t>Daily returns, CAGR, NAV vs benchmark</a:t>
                  </a:r>
                  <a:endParaRPr lang="en-US" sz="550" dirty="0"/>
                </a:p>
              </p:txBody>
            </p:sp>
            <p:sp>
              <p:nvSpPr>
                <p:cNvPr id="10" name="Text 6"/>
                <p:cNvSpPr/>
                <p:nvPr/>
              </p:nvSpPr>
              <p:spPr>
                <a:xfrm>
                  <a:off x="2623245" y="1028477"/>
                  <a:ext cx="1850678" cy="1107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ct val="104000"/>
                    </a:lnSpc>
                    <a:buNone/>
                  </a:pPr>
                  <a:r>
                    <a:rPr lang="en-US" sz="650" dirty="0">
                      <a:solidFill>
                        <a:srgbClr val="4C4C4D"/>
                      </a:solidFill>
                      <a:latin typeface="Crimson Pro SemiBold" pitchFamily="34" charset="0"/>
                      <a:ea typeface="Crimson Pro SemiBold" pitchFamily="34" charset="-122"/>
                      <a:cs typeface="Crimson Pro SemiBold" pitchFamily="34" charset="-120"/>
                    </a:rPr>
                    <a:t>Risk Metrics</a:t>
                  </a:r>
                  <a:endParaRPr lang="en-US" sz="650" dirty="0"/>
                </a:p>
              </p:txBody>
            </p:sp>
            <p:sp>
              <p:nvSpPr>
                <p:cNvPr id="11" name="Text 7"/>
                <p:cNvSpPr/>
                <p:nvPr/>
              </p:nvSpPr>
              <p:spPr>
                <a:xfrm>
                  <a:off x="2623245" y="1160413"/>
                  <a:ext cx="1850678" cy="85055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ct val="100000"/>
                    </a:lnSpc>
                    <a:buNone/>
                  </a:pPr>
                  <a:r>
                    <a:rPr lang="en-US" sz="550" dirty="0">
                      <a:solidFill>
                        <a:srgbClr val="4C4C4D"/>
                      </a:solidFill>
                      <a:latin typeface="Heebo" pitchFamily="34" charset="0"/>
                      <a:ea typeface="Heebo" pitchFamily="34" charset="-122"/>
                      <a:cs typeface="Heebo" pitchFamily="34" charset="-120"/>
                    </a:rPr>
                    <a:t>Std dev, Max Drawdown, Tracking Error</a:t>
                  </a:r>
                  <a:endParaRPr lang="en-US" sz="550" dirty="0"/>
                </a:p>
              </p:txBody>
            </p:sp>
            <p:sp>
              <p:nvSpPr>
                <p:cNvPr id="14" name="Text 9"/>
                <p:cNvSpPr/>
                <p:nvPr/>
              </p:nvSpPr>
              <p:spPr>
                <a:xfrm>
                  <a:off x="4670078" y="1028477"/>
                  <a:ext cx="1850603" cy="1107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ct val="104000"/>
                    </a:lnSpc>
                    <a:buNone/>
                  </a:pPr>
                  <a:r>
                    <a:rPr lang="en-US" sz="650" dirty="0">
                      <a:solidFill>
                        <a:srgbClr val="4C4C4D"/>
                      </a:solidFill>
                      <a:latin typeface="Crimson Pro SemiBold" pitchFamily="34" charset="0"/>
                      <a:ea typeface="Crimson Pro SemiBold" pitchFamily="34" charset="-122"/>
                      <a:cs typeface="Crimson Pro SemiBold" pitchFamily="34" charset="-120"/>
                    </a:rPr>
                    <a:t>Risk-Adjusted</a:t>
                  </a:r>
                  <a:endParaRPr lang="en-US" sz="650" dirty="0"/>
                </a:p>
              </p:txBody>
            </p:sp>
            <p:sp>
              <p:nvSpPr>
                <p:cNvPr id="15" name="Text 10"/>
                <p:cNvSpPr/>
                <p:nvPr/>
              </p:nvSpPr>
              <p:spPr>
                <a:xfrm>
                  <a:off x="4670078" y="1160413"/>
                  <a:ext cx="1850603" cy="85055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ct val="100000"/>
                    </a:lnSpc>
                    <a:buNone/>
                  </a:pPr>
                  <a:r>
                    <a:rPr lang="en-US" sz="550" dirty="0">
                      <a:solidFill>
                        <a:srgbClr val="4C4C4D"/>
                      </a:solidFill>
                      <a:latin typeface="Heebo" pitchFamily="34" charset="0"/>
                      <a:ea typeface="Heebo" pitchFamily="34" charset="-122"/>
                      <a:cs typeface="Heebo" pitchFamily="34" charset="-120"/>
                    </a:rPr>
                    <a:t>Sharpe, Sortino, Alpha &amp; Beta</a:t>
                  </a:r>
                  <a:endParaRPr lang="en-US" sz="550" dirty="0"/>
                </a:p>
              </p:txBody>
            </p:sp>
            <p:sp>
              <p:nvSpPr>
                <p:cNvPr id="18" name="Text 12"/>
                <p:cNvSpPr/>
                <p:nvPr/>
              </p:nvSpPr>
              <p:spPr>
                <a:xfrm>
                  <a:off x="6716837" y="1028477"/>
                  <a:ext cx="1850678" cy="11072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ct val="104000"/>
                    </a:lnSpc>
                    <a:buNone/>
                  </a:pPr>
                  <a:r>
                    <a:rPr lang="en-US" sz="650" dirty="0">
                      <a:solidFill>
                        <a:srgbClr val="4C4C4D"/>
                      </a:solidFill>
                      <a:latin typeface="Crimson Pro SemiBold" pitchFamily="34" charset="0"/>
                      <a:ea typeface="Crimson Pro SemiBold" pitchFamily="34" charset="-122"/>
                      <a:cs typeface="Crimson Pro SemiBold" pitchFamily="34" charset="-120"/>
                    </a:rPr>
                    <a:t>Composite Score</a:t>
                  </a:r>
                  <a:endParaRPr lang="en-US" sz="650" dirty="0"/>
                </a:p>
              </p:txBody>
            </p:sp>
            <p:sp>
              <p:nvSpPr>
                <p:cNvPr id="19" name="Text 13"/>
                <p:cNvSpPr/>
                <p:nvPr/>
              </p:nvSpPr>
              <p:spPr>
                <a:xfrm>
                  <a:off x="6716837" y="1160413"/>
                  <a:ext cx="1850678" cy="85055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ct val="100000"/>
                    </a:lnSpc>
                    <a:buNone/>
                  </a:pPr>
                  <a:r>
                    <a:rPr lang="en-US" sz="550" dirty="0">
                      <a:solidFill>
                        <a:srgbClr val="4C4C4D"/>
                      </a:solidFill>
                      <a:latin typeface="Heebo" pitchFamily="34" charset="0"/>
                      <a:ea typeface="Heebo" pitchFamily="34" charset="-122"/>
                      <a:cs typeface="Heebo" pitchFamily="34" charset="-120"/>
                    </a:rPr>
                    <a:t>Weighted blend: return, risk, consistency, liquidity</a:t>
                  </a:r>
                  <a:endParaRPr lang="en-US" sz="550" dirty="0"/>
                </a:p>
              </p:txBody>
            </p:sp>
          </p:grpSp>
        </p:grpSp>
      </p:grp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20" y="1737866"/>
            <a:ext cx="5351916" cy="284719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67519" y="574216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Benchmark Comparison</a:t>
            </a:r>
            <a:endParaRPr lang="en-US" sz="5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B40ABB-9972-DD62-CC47-EB2DD07BC2E1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048"/>
            <a:ext cx="3248336" cy="16147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482" y="1876858"/>
            <a:ext cx="3213781" cy="15946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28715"/>
            <a:ext cx="3254304" cy="161478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1C3F3F3-D27C-A517-9AEF-E7CA029BE3EA}"/>
              </a:ext>
            </a:extLst>
          </p:cNvPr>
          <p:cNvGrpSpPr/>
          <p:nvPr/>
        </p:nvGrpSpPr>
        <p:grpSpPr>
          <a:xfrm>
            <a:off x="5394960" y="567679"/>
            <a:ext cx="4302642" cy="3548532"/>
            <a:chOff x="5076986" y="2927747"/>
            <a:chExt cx="3575584" cy="1588146"/>
          </a:xfrm>
        </p:grpSpPr>
        <p:sp>
          <p:nvSpPr>
            <p:cNvPr id="5" name="Text 0"/>
            <p:cNvSpPr/>
            <p:nvPr/>
          </p:nvSpPr>
          <p:spPr>
            <a:xfrm>
              <a:off x="5079429" y="2927747"/>
              <a:ext cx="3573140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200" dirty="0">
                  <a:solidFill>
                    <a:srgbClr val="04318F"/>
                  </a:solidFill>
                  <a:latin typeface="Crimson Pro SemiBold" pitchFamily="34" charset="0"/>
                  <a:ea typeface="Crimson Pro SemiBold" pitchFamily="34" charset="-122"/>
                  <a:cs typeface="Crimson Pro SemiBold" pitchFamily="34" charset="-120"/>
                </a:rPr>
                <a:t>Advanced Analytics</a:t>
              </a:r>
              <a:endParaRPr lang="en-US" sz="2200" dirty="0"/>
            </a:p>
          </p:txBody>
        </p:sp>
        <p:sp>
          <p:nvSpPr>
            <p:cNvPr id="7" name="Text 2"/>
            <p:cNvSpPr/>
            <p:nvPr/>
          </p:nvSpPr>
          <p:spPr>
            <a:xfrm>
              <a:off x="5150271" y="3169071"/>
              <a:ext cx="3502298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00" dirty="0">
                  <a:solidFill>
                    <a:srgbClr val="4C4C4D"/>
                  </a:solidFill>
                  <a:latin typeface="Crimson Pro SemiBold" pitchFamily="34" charset="0"/>
                  <a:ea typeface="Crimson Pro SemiBold" pitchFamily="34" charset="-122"/>
                  <a:cs typeface="Crimson Pro SemiBold" pitchFamily="34" charset="-120"/>
                </a:rPr>
                <a:t>Rolling Sharpe</a:t>
              </a:r>
              <a:endParaRPr lang="en-US" sz="1100" dirty="0"/>
            </a:p>
          </p:txBody>
        </p:sp>
        <p:sp>
          <p:nvSpPr>
            <p:cNvPr id="8" name="Text 3"/>
            <p:cNvSpPr/>
            <p:nvPr/>
          </p:nvSpPr>
          <p:spPr>
            <a:xfrm>
              <a:off x="5150272" y="3335164"/>
              <a:ext cx="3502298" cy="85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800" dirty="0">
                  <a:solidFill>
                    <a:srgbClr val="4C4C4D"/>
                  </a:solidFill>
                  <a:latin typeface="Heebo" pitchFamily="34" charset="0"/>
                  <a:ea typeface="Heebo" pitchFamily="34" charset="-122"/>
                  <a:cs typeface="Heebo" pitchFamily="34" charset="-120"/>
                </a:rPr>
                <a:t>90-day rolling estimation for momentum &amp; risk regime</a:t>
              </a:r>
              <a:endParaRPr lang="en-US" sz="80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5150270" y="3471118"/>
              <a:ext cx="3502298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00" dirty="0">
                  <a:solidFill>
                    <a:srgbClr val="4C4C4D"/>
                  </a:solidFill>
                  <a:latin typeface="Crimson Pro SemiBold" pitchFamily="34" charset="0"/>
                  <a:ea typeface="Crimson Pro SemiBold" pitchFamily="34" charset="-122"/>
                  <a:cs typeface="Crimson Pro SemiBold" pitchFamily="34" charset="-120"/>
                </a:rPr>
                <a:t>VaR &amp; CVaR</a:t>
              </a:r>
              <a:endParaRPr lang="en-US" sz="11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5150272" y="3637211"/>
              <a:ext cx="3502298" cy="85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00" dirty="0">
                  <a:solidFill>
                    <a:srgbClr val="4C4C4D"/>
                  </a:solidFill>
                  <a:latin typeface="Heebo" pitchFamily="34" charset="0"/>
                  <a:ea typeface="Heebo" pitchFamily="34" charset="-122"/>
                  <a:cs typeface="Heebo" pitchFamily="34" charset="-120"/>
                </a:rPr>
                <a:t>Historical tail-risk for downside planning</a:t>
              </a:r>
              <a:endParaRPr lang="en-US" sz="9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5150272" y="3773165"/>
              <a:ext cx="3502298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00" dirty="0">
                  <a:solidFill>
                    <a:srgbClr val="4C4C4D"/>
                  </a:solidFill>
                  <a:latin typeface="Crimson Pro SemiBold" pitchFamily="34" charset="0"/>
                  <a:ea typeface="Crimson Pro SemiBold" pitchFamily="34" charset="-122"/>
                  <a:cs typeface="Crimson Pro SemiBold" pitchFamily="34" charset="-120"/>
                </a:rPr>
                <a:t>Sector HHI</a:t>
              </a:r>
              <a:endParaRPr lang="en-US" sz="11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5150272" y="3939257"/>
              <a:ext cx="3502298" cy="85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00" dirty="0">
                  <a:solidFill>
                    <a:srgbClr val="4C4C4D"/>
                  </a:solidFill>
                  <a:latin typeface="Heebo" pitchFamily="34" charset="0"/>
                  <a:ea typeface="Heebo" pitchFamily="34" charset="-122"/>
                  <a:cs typeface="Heebo" pitchFamily="34" charset="-120"/>
                </a:rPr>
                <a:t>Concentration score to flag overexposure</a:t>
              </a:r>
              <a:endParaRPr lang="en-US" sz="900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5150272" y="4085029"/>
              <a:ext cx="3502298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00" dirty="0">
                  <a:solidFill>
                    <a:srgbClr val="4C4C4D"/>
                  </a:solidFill>
                  <a:latin typeface="Crimson Pro SemiBold" pitchFamily="34" charset="0"/>
                  <a:ea typeface="Crimson Pro SemiBold" pitchFamily="34" charset="-122"/>
                  <a:cs typeface="Crimson Pro SemiBold" pitchFamily="34" charset="-120"/>
                </a:rPr>
                <a:t>Rule-based Recommendations</a:t>
              </a:r>
              <a:endParaRPr lang="en-US" sz="11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5150272" y="4245097"/>
              <a:ext cx="3502298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00" dirty="0">
                  <a:solidFill>
                    <a:srgbClr val="4C4C4D"/>
                  </a:solidFill>
                  <a:latin typeface="Crimson Pro SemiBold" pitchFamily="34" charset="0"/>
                  <a:ea typeface="Crimson Pro SemiBold" pitchFamily="34" charset="-122"/>
                  <a:cs typeface="Crimson Pro SemiBold" pitchFamily="34" charset="-120"/>
                </a:rPr>
                <a:t>Investor Cohort Analysis</a:t>
              </a:r>
              <a:endParaRPr lang="en-US" sz="1100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29304F7-C5E1-0F05-2FD0-B558AAD1A227}"/>
                </a:ext>
              </a:extLst>
            </p:cNvPr>
            <p:cNvGrpSpPr/>
            <p:nvPr/>
          </p:nvGrpSpPr>
          <p:grpSpPr>
            <a:xfrm>
              <a:off x="5076986" y="3191247"/>
              <a:ext cx="40595" cy="1269264"/>
              <a:chOff x="5076986" y="3191247"/>
              <a:chExt cx="40595" cy="1269264"/>
            </a:xfrm>
          </p:grpSpPr>
          <p:sp>
            <p:nvSpPr>
              <p:cNvPr id="6" name="Shape 1"/>
              <p:cNvSpPr/>
              <p:nvPr/>
            </p:nvSpPr>
            <p:spPr>
              <a:xfrm>
                <a:off x="5077749" y="3191247"/>
                <a:ext cx="35421" cy="35421"/>
              </a:xfrm>
              <a:prstGeom prst="ellipse">
                <a:avLst/>
              </a:prstGeom>
              <a:solidFill>
                <a:srgbClr val="2150FE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Shape 4"/>
              <p:cNvSpPr/>
              <p:nvPr/>
            </p:nvSpPr>
            <p:spPr>
              <a:xfrm>
                <a:off x="5080068" y="3491061"/>
                <a:ext cx="35421" cy="35421"/>
              </a:xfrm>
              <a:prstGeom prst="ellipse">
                <a:avLst/>
              </a:prstGeom>
              <a:solidFill>
                <a:srgbClr val="2150FE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Shape 7"/>
              <p:cNvSpPr/>
              <p:nvPr/>
            </p:nvSpPr>
            <p:spPr>
              <a:xfrm>
                <a:off x="5077749" y="3795341"/>
                <a:ext cx="35421" cy="35421"/>
              </a:xfrm>
              <a:prstGeom prst="ellipse">
                <a:avLst/>
              </a:prstGeom>
              <a:solidFill>
                <a:srgbClr val="2150FE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Shape 10"/>
              <p:cNvSpPr/>
              <p:nvPr/>
            </p:nvSpPr>
            <p:spPr>
              <a:xfrm>
                <a:off x="5076986" y="4104972"/>
                <a:ext cx="35421" cy="35421"/>
              </a:xfrm>
              <a:prstGeom prst="ellipse">
                <a:avLst/>
              </a:prstGeom>
              <a:solidFill>
                <a:srgbClr val="2150FE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Shape 12"/>
              <p:cNvSpPr/>
              <p:nvPr/>
            </p:nvSpPr>
            <p:spPr>
              <a:xfrm>
                <a:off x="5082160" y="4265031"/>
                <a:ext cx="35421" cy="35421"/>
              </a:xfrm>
              <a:prstGeom prst="ellipse">
                <a:avLst/>
              </a:prstGeom>
              <a:solidFill>
                <a:srgbClr val="2150FE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Shape 14"/>
              <p:cNvSpPr/>
              <p:nvPr/>
            </p:nvSpPr>
            <p:spPr>
              <a:xfrm>
                <a:off x="5076988" y="4425090"/>
                <a:ext cx="35421" cy="35421"/>
              </a:xfrm>
              <a:prstGeom prst="ellipse">
                <a:avLst/>
              </a:prstGeom>
              <a:solidFill>
                <a:srgbClr val="2150FE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Text 15"/>
            <p:cNvSpPr/>
            <p:nvPr/>
          </p:nvSpPr>
          <p:spPr>
            <a:xfrm>
              <a:off x="5150270" y="4405165"/>
              <a:ext cx="3502298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00" dirty="0">
                  <a:solidFill>
                    <a:srgbClr val="4C4C4D"/>
                  </a:solidFill>
                  <a:latin typeface="Crimson Pro SemiBold" pitchFamily="34" charset="0"/>
                  <a:ea typeface="Crimson Pro SemiBold" pitchFamily="34" charset="-122"/>
                  <a:cs typeface="Crimson Pro SemiBold" pitchFamily="34" charset="-120"/>
                </a:rPr>
                <a:t>SIP Continuity Analysis</a:t>
              </a:r>
              <a:endParaRPr lang="en-US" sz="1100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1BABC-73E6-E6DC-2195-487A01E70C2A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B925C0-9C48-6D91-D523-A036114F68C7}"/>
              </a:ext>
            </a:extLst>
          </p:cNvPr>
          <p:cNvSpPr txBox="1"/>
          <p:nvPr/>
        </p:nvSpPr>
        <p:spPr>
          <a:xfrm>
            <a:off x="3248336" y="878635"/>
            <a:ext cx="1567543" cy="43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Rolling 90-day Sharpe Ratio</a:t>
            </a:r>
            <a:endParaRPr 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BE963B-403F-03DE-1871-229E5505423E}"/>
              </a:ext>
            </a:extLst>
          </p:cNvPr>
          <p:cNvSpPr txBox="1"/>
          <p:nvPr/>
        </p:nvSpPr>
        <p:spPr>
          <a:xfrm>
            <a:off x="192679" y="2506219"/>
            <a:ext cx="1635803" cy="2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</a:rPr>
              <a:t>Historical VaR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F9B942-FBCF-6450-31B9-10A1861BDAC5}"/>
              </a:ext>
            </a:extLst>
          </p:cNvPr>
          <p:cNvSpPr txBox="1"/>
          <p:nvPr/>
        </p:nvSpPr>
        <p:spPr>
          <a:xfrm>
            <a:off x="3235273" y="4205751"/>
            <a:ext cx="2140656" cy="2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C4C4D"/>
                </a:solidFill>
                <a:effectLst/>
                <a:uLnTx/>
                <a:uFillTx/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Sector HHI Analysis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5392"/>
            <a:ext cx="815176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207666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 Overview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0183"/>
            <a:ext cx="3905696" cy="22002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934867"/>
            <a:ext cx="3905696" cy="56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 Industry KPIs · AUM trend · AUM by fund house</a:t>
            </a:r>
            <a:endParaRPr lang="en-US" sz="10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 Interactive slicers, date range, category filters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6947" y="1207666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Fund Performance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947" y="1580183"/>
            <a:ext cx="3905696" cy="22033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46947" y="3937992"/>
            <a:ext cx="3905696" cy="56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 Risk vs Return scatter · Fund scorecards · NAV vs benchmark</a:t>
            </a:r>
            <a:endParaRPr lang="en-US" sz="10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 Tooltips &amp; drill-through to fund detail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90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37762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Investor Analytics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58553"/>
            <a:ext cx="3902943" cy="21967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11480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 State-wise flows · Transaction mix · Monthly activity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137762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SIP &amp; Market Trends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758553"/>
            <a:ext cx="3902943" cy="22021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49701" y="412015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  SIP inflows vs market benchmark · category inflows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2F1C25-5029-EDCF-63C5-ECDD13C88A6C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7" y="78493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Findings </a:t>
            </a:r>
            <a:endParaRPr lang="en-US" sz="2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0F51AEB-4560-3390-993D-670E3F25E738}"/>
              </a:ext>
            </a:extLst>
          </p:cNvPr>
          <p:cNvGrpSpPr/>
          <p:nvPr/>
        </p:nvGrpSpPr>
        <p:grpSpPr>
          <a:xfrm>
            <a:off x="496116" y="1409708"/>
            <a:ext cx="8151763" cy="2198712"/>
            <a:chOff x="496119" y="1755874"/>
            <a:chExt cx="8151763" cy="2198712"/>
          </a:xfrm>
        </p:grpSpPr>
        <p:sp>
          <p:nvSpPr>
            <p:cNvPr id="3" name="Shape 1"/>
            <p:cNvSpPr/>
            <p:nvPr/>
          </p:nvSpPr>
          <p:spPr>
            <a:xfrm>
              <a:off x="496119" y="1755874"/>
              <a:ext cx="8151763" cy="2198712"/>
            </a:xfrm>
            <a:prstGeom prst="roundRect">
              <a:avLst>
                <a:gd name="adj" fmla="val 967"/>
              </a:avLst>
            </a:prstGeom>
            <a:solidFill>
              <a:srgbClr val="AFCB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637877" y="1897633"/>
              <a:ext cx="7868245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000000"/>
                  </a:solidFill>
                  <a:latin typeface="Crimson Pro SemiBold" pitchFamily="34" charset="0"/>
                  <a:ea typeface="Crimson Pro SemiBold" pitchFamily="34" charset="-122"/>
                  <a:cs typeface="Crimson Pro SemiBold" pitchFamily="34" charset="-120"/>
                </a:rPr>
                <a:t>Findings</a:t>
              </a:r>
              <a:endParaRPr lang="en-US" sz="13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7877" y="2204145"/>
              <a:ext cx="7868245" cy="16086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223520" indent="-223520" algn="l">
                <a:lnSpc>
                  <a:spcPct val="1330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000000"/>
                  </a:solidFill>
                  <a:latin typeface="Heebo" pitchFamily="34" charset="0"/>
                  <a:ea typeface="Heebo" pitchFamily="34" charset="-122"/>
                  <a:cs typeface="Heebo" pitchFamily="34" charset="-120"/>
                </a:rPr>
                <a:t>Strong growth in industry AUM and SIP inflows.</a:t>
              </a:r>
              <a:endParaRPr lang="en-US" sz="1100" dirty="0"/>
            </a:p>
            <a:p>
              <a:pPr marL="223520" indent="-223520" algn="l">
                <a:lnSpc>
                  <a:spcPct val="1330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000000"/>
                  </a:solidFill>
                  <a:latin typeface="Heebo" pitchFamily="34" charset="0"/>
                  <a:ea typeface="Heebo" pitchFamily="34" charset="-122"/>
                  <a:cs typeface="Heebo" pitchFamily="34" charset="-120"/>
                </a:rPr>
                <a:t>Risk-adjusted metrics improved fund comparison.</a:t>
              </a:r>
              <a:endParaRPr lang="en-US" sz="1100" dirty="0"/>
            </a:p>
            <a:p>
              <a:pPr marL="223520" indent="-223520" algn="l">
                <a:lnSpc>
                  <a:spcPct val="1330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000000"/>
                  </a:solidFill>
                  <a:latin typeface="Heebo" pitchFamily="34" charset="0"/>
                  <a:ea typeface="Heebo" pitchFamily="34" charset="-122"/>
                  <a:cs typeface="Heebo" pitchFamily="34" charset="-120"/>
                </a:rPr>
                <a:t>Small-cap funds exhibited higher downside risk.</a:t>
              </a:r>
              <a:endParaRPr lang="en-US" sz="1100" dirty="0"/>
            </a:p>
            <a:p>
              <a:pPr marL="223520" indent="-223520" algn="l">
                <a:lnSpc>
                  <a:spcPct val="1330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000000"/>
                  </a:solidFill>
                  <a:latin typeface="Heebo" pitchFamily="34" charset="0"/>
                  <a:ea typeface="Heebo" pitchFamily="34" charset="-122"/>
                  <a:cs typeface="Heebo" pitchFamily="34" charset="-120"/>
                </a:rPr>
                <a:t>2024 investor cohort contributed the highest investments.</a:t>
              </a:r>
              <a:endParaRPr lang="en-US" sz="1100" dirty="0"/>
            </a:p>
            <a:p>
              <a:pPr marL="223520" indent="-223520" algn="l">
                <a:lnSpc>
                  <a:spcPct val="1330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000000"/>
                  </a:solidFill>
                  <a:latin typeface="Heebo" pitchFamily="34" charset="0"/>
                  <a:ea typeface="Heebo" pitchFamily="34" charset="-122"/>
                  <a:cs typeface="Heebo" pitchFamily="34" charset="-120"/>
                </a:rPr>
                <a:t>SIP continuity analysis identified at-risk investors.</a:t>
              </a:r>
              <a:endParaRPr lang="en-US" sz="1100" dirty="0"/>
            </a:p>
            <a:p>
              <a:pPr marL="223520" indent="-223520" algn="l">
                <a:lnSpc>
                  <a:spcPct val="1330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000000"/>
                  </a:solidFill>
                  <a:latin typeface="Heebo" pitchFamily="34" charset="0"/>
                  <a:ea typeface="Heebo" pitchFamily="34" charset="-122"/>
                  <a:cs typeface="Heebo" pitchFamily="34" charset="-120"/>
                </a:rPr>
                <a:t>Dashboard enabled interactive exploration of analytics.</a:t>
              </a:r>
              <a:endParaRPr lang="en-US" sz="110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3154614-8C5F-F999-7E9D-4BF4DD2A7AA3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988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180951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15008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Built a complete end-to-end mutual fund analytics platform.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Combined ETL, analytics, and business intelligence.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Generated actionable insights for investors.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07171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041228"/>
            <a:ext cx="8151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ETL scheduling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market integration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Streamlit web application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Portfolio optimization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Machine learning-based recommendations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850B30-A65B-14D4-4243-FE49EF30DA0B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0877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35275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Presented by</a:t>
            </a:r>
            <a:endParaRPr lang="en-US" sz="1100" dirty="0"/>
          </a:p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Hitesh Tomar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Bluestock FinTech Internship</a:t>
            </a:r>
            <a:endParaRPr lang="en-US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7DA65B-1688-24BF-20FB-D4CBC7442EAE}"/>
              </a:ext>
            </a:extLst>
          </p:cNvPr>
          <p:cNvSpPr/>
          <p:nvPr/>
        </p:nvSpPr>
        <p:spPr>
          <a:xfrm>
            <a:off x="7818120" y="4748349"/>
            <a:ext cx="1325880" cy="395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496</Words>
  <Application>Microsoft Office PowerPoint</Application>
  <PresentationFormat>On-screen Show (16:9)</PresentationFormat>
  <Paragraphs>128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Crimson Pro SemiBold</vt:lpstr>
      <vt:lpstr>Heebo</vt:lpstr>
      <vt:lpstr>Arial</vt:lpstr>
      <vt:lpstr>Calibri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Hitesh</dc:creator>
  <cp:lastModifiedBy>Hitesh Tomar</cp:lastModifiedBy>
  <cp:revision>2</cp:revision>
  <dcterms:created xsi:type="dcterms:W3CDTF">2026-07-09T13:09:17Z</dcterms:created>
  <dcterms:modified xsi:type="dcterms:W3CDTF">2026-07-09T13:29:05Z</dcterms:modified>
</cp:coreProperties>
</file>